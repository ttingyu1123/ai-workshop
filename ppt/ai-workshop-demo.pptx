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85800" y="594360"/>
            <a:ext cx="146304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Pilot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261872"/>
            <a:ext cx="5806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3500" b="1">
                <a:solidFill>
                  <a:srgbClr val="111827"/>
                </a:solidFill>
                <a:latin typeface="Microsoft JhengHei"/>
              </a:rPr>
              <a:t>AI 入門與創作工作坊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048256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4B5563"/>
                </a:solidFill>
                <a:latin typeface="Microsoft JhengHei"/>
              </a:rPr>
              <a:t>給醫療人員的第一堂 AI 課</a:t>
            </a:r>
          </a:p>
        </p:txBody>
      </p:sp>
      <p:sp>
        <p:nvSpPr>
          <p:cNvPr id="25" name="Rounded Rectangle 24"/>
          <p:cNvSpPr/>
          <p:nvPr/>
        </p:nvSpPr>
        <p:spPr>
          <a:xfrm rot="21570000">
            <a:off x="713232" y="2816352"/>
            <a:ext cx="507492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054096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111827"/>
                </a:solidFill>
                <a:latin typeface="Microsoft JhengHei"/>
              </a:rPr>
              <a:t>今天先建立三件事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456432"/>
            <a:ext cx="4315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20">
                <a:solidFill>
                  <a:srgbClr val="111827"/>
                </a:solidFill>
                <a:latin typeface="Microsoft JhengHei"/>
              </a:rPr>
              <a:t>知道 AI 能做什麼，也知道不能信什麼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20">
                <a:solidFill>
                  <a:srgbClr val="111827"/>
                </a:solidFill>
                <a:latin typeface="Microsoft JhengHei"/>
              </a:rPr>
              <a:t>會寫出有邊界的 Prompt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20">
                <a:solidFill>
                  <a:srgbClr val="111827"/>
                </a:solidFill>
                <a:latin typeface="Microsoft JhengHei"/>
              </a:rPr>
              <a:t>先守住病人隱私與專業責任</a:t>
            </a:r>
          </a:p>
        </p:txBody>
      </p:sp>
      <p:sp>
        <p:nvSpPr>
          <p:cNvPr id="28" name="Rounded Rectangle 27"/>
          <p:cNvSpPr/>
          <p:nvPr/>
        </p:nvSpPr>
        <p:spPr>
          <a:xfrm rot="72000">
            <a:off x="6995160" y="749808"/>
            <a:ext cx="4251960" cy="4251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og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950976"/>
            <a:ext cx="3840480" cy="3840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69480" y="5193792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0">
                <a:solidFill>
                  <a:srgbClr val="4B5563"/>
                </a:solidFill>
                <a:latin typeface="Comic Sans MS"/>
              </a:rPr>
              <a:t>Doodle style from GitHub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Microsoft JhengHei"/>
              </a:rPr>
              <a:t>衛生福利部台中醫院 感染科 曾婷玉醫師 · AI Workshop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21792" y="438912"/>
            <a:ext cx="132588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Workshop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9536"/>
            <a:ext cx="7589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111827"/>
                </a:solidFill>
                <a:latin typeface="Microsoft JhengHei"/>
              </a:rPr>
              <a:t>課程地圖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550" b="0">
                <a:solidFill>
                  <a:srgbClr val="4B5563"/>
                </a:solidFill>
                <a:latin typeface="Microsoft JhengHei"/>
              </a:rPr>
              <a:t>從安全使用開始，再進到文字、圖像、影片與 Agent。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97280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4358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8988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36192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249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28800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7510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21570000">
            <a:off x="731520" y="2331720"/>
            <a:ext cx="48920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 rot="21480000">
            <a:off x="896112" y="2514600"/>
            <a:ext cx="960120" cy="347472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Part 1-3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299008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Microsoft JhengHei"/>
              </a:rPr>
              <a:t>基礎必修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3428999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450" b="0">
                <a:solidFill>
                  <a:srgbClr val="4B5563"/>
                </a:solidFill>
                <a:latin typeface="Microsoft JhengHei"/>
              </a:rPr>
              <a:t>AI 基礎觀念</a:t>
            </a:r>
            <a:br/>
            <a:r>
              <a:t>文字應用</a:t>
            </a:r>
            <a:br/>
            <a:r>
              <a:t>安全與隱私</a:t>
            </a:r>
          </a:p>
        </p:txBody>
      </p:sp>
      <p:sp>
        <p:nvSpPr>
          <p:cNvPr id="39" name="Rounded Rectangle 38"/>
          <p:cNvSpPr/>
          <p:nvPr/>
        </p:nvSpPr>
        <p:spPr>
          <a:xfrm rot="24000">
            <a:off x="6217920" y="2331720"/>
            <a:ext cx="48920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 rot="21480000">
            <a:off x="6382512" y="2514600"/>
            <a:ext cx="960120" cy="347472"/>
          </a:xfrm>
          <a:prstGeom prst="roundRect">
            <a:avLst/>
          </a:prstGeom>
          <a:solidFill>
            <a:srgbClr val="BAE6FD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Part 4-6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299008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Microsoft JhengHei"/>
              </a:rPr>
              <a:t>創作應用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3428999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450" b="0">
                <a:solidFill>
                  <a:srgbClr val="4B5563"/>
                </a:solidFill>
                <a:latin typeface="Microsoft JhengHei"/>
              </a:rPr>
              <a:t>圖像生成</a:t>
            </a:r>
            <a:br/>
            <a:r>
              <a:t>影片製作</a:t>
            </a:r>
            <a:br/>
            <a:r>
              <a:t>Google Flow</a:t>
            </a:r>
          </a:p>
        </p:txBody>
      </p:sp>
      <p:sp>
        <p:nvSpPr>
          <p:cNvPr id="43" name="Rounded Rectangle 42"/>
          <p:cNvSpPr/>
          <p:nvPr/>
        </p:nvSpPr>
        <p:spPr>
          <a:xfrm rot="21570000">
            <a:off x="731520" y="4206240"/>
            <a:ext cx="48920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 rot="21480000">
            <a:off x="896112" y="4389120"/>
            <a:ext cx="960120" cy="347472"/>
          </a:xfrm>
          <a:prstGeom prst="roundRect">
            <a:avLst/>
          </a:prstGeom>
          <a:solidFill>
            <a:srgbClr val="FBCFE8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Part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486460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Microsoft JhengHei"/>
              </a:rPr>
              <a:t>進階實戰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" y="5303519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450" b="0">
                <a:solidFill>
                  <a:srgbClr val="4B5563"/>
                </a:solidFill>
                <a:latin typeface="Microsoft JhengHei"/>
              </a:rPr>
              <a:t>AI Agent</a:t>
            </a:r>
            <a:br/>
            <a:r>
              <a:t>自動化任務</a:t>
            </a:r>
            <a:br/>
            <a:r>
              <a:t>工具協作</a:t>
            </a:r>
          </a:p>
        </p:txBody>
      </p:sp>
      <p:sp>
        <p:nvSpPr>
          <p:cNvPr id="47" name="Rounded Rectangle 46"/>
          <p:cNvSpPr/>
          <p:nvPr/>
        </p:nvSpPr>
        <p:spPr>
          <a:xfrm rot="24000">
            <a:off x="6217920" y="4206240"/>
            <a:ext cx="48920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 rot="21480000">
            <a:off x="6382512" y="4389120"/>
            <a:ext cx="960120" cy="347472"/>
          </a:xfrm>
          <a:prstGeom prst="roundRect">
            <a:avLst/>
          </a:prstGeom>
          <a:solidFill>
            <a:srgbClr val="DDD6FE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Extras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486460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Microsoft JhengHei"/>
              </a:rPr>
              <a:t>番外工具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5303519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450" b="0">
                <a:solidFill>
                  <a:srgbClr val="4B5563"/>
                </a:solidFill>
                <a:latin typeface="Microsoft JhengHei"/>
              </a:rPr>
              <a:t>NotebookLM</a:t>
            </a:r>
            <a:br/>
            <a:r>
              <a:t>語音轉文字</a:t>
            </a:r>
            <a:br/>
            <a:r>
              <a:t>Canva / CapCut / GitHub Pages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Microsoft JhengHei"/>
              </a:rPr>
              <a:t>衛生福利部台中醫院 感染科 曾婷玉醫師 · AI Workshop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21792" y="438912"/>
            <a:ext cx="132588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Part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9536"/>
            <a:ext cx="7589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111827"/>
                </a:solidFill>
                <a:latin typeface="Microsoft JhengHei"/>
              </a:rPr>
              <a:t>AI 到底在幹嘛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550" b="0">
                <a:solidFill>
                  <a:srgbClr val="4B5563"/>
                </a:solidFill>
                <a:latin typeface="Microsoft JhengHei"/>
              </a:rPr>
              <a:t>用醫療人員熟悉的方式理解 LLM。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97280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4358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8988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36192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249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28800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7510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21582000">
            <a:off x="777240" y="2331720"/>
            <a:ext cx="5074920" cy="2331720"/>
          </a:xfrm>
          <a:prstGeom prst="roundRect">
            <a:avLst/>
          </a:prstGeom>
          <a:solidFill>
            <a:srgbClr val="BBF7D0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2587752"/>
            <a:ext cx="4206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16A34A"/>
                </a:solidFill>
                <a:latin typeface="Microsoft JhengHei"/>
              </a:rPr>
              <a:t>醫學類比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2999232"/>
            <a:ext cx="4343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111827"/>
                </a:solidFill>
                <a:latin typeface="Microsoft JhengHei"/>
              </a:rPr>
              <a:t>像一個讀完所有教科書的住院醫師：知識量驚人，但沒有臨床經驗，偶爾會很有自信地說錯話。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37744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263D5B"/>
                </a:solidFill>
                <a:latin typeface="Microsoft JhengHei"/>
              </a:rPr>
              <a:t>LLM = 預測下一個字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090672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50">
                <a:solidFill>
                  <a:srgbClr val="111827"/>
                </a:solidFill>
                <a:latin typeface="Microsoft JhengHei"/>
              </a:rPr>
              <a:t>不是資料庫查詢，而是根據上下文生成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50">
                <a:solidFill>
                  <a:srgbClr val="111827"/>
                </a:solidFill>
                <a:latin typeface="Microsoft JhengHei"/>
              </a:rPr>
              <a:t>回答流暢不等於已經查證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50">
                <a:solidFill>
                  <a:srgbClr val="111827"/>
                </a:solidFill>
                <a:latin typeface="Microsoft JhengHei"/>
              </a:rPr>
              <a:t>越明確的任務，越容易得到可用結果</a:t>
            </a:r>
          </a:p>
        </p:txBody>
      </p:sp>
      <p:sp>
        <p:nvSpPr>
          <p:cNvPr id="40" name="Rounded Rectangle 39"/>
          <p:cNvSpPr/>
          <p:nvPr/>
        </p:nvSpPr>
        <p:spPr>
          <a:xfrm rot="21420000">
            <a:off x="6601968" y="4498848"/>
            <a:ext cx="114300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keyword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7" y="452628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111827"/>
                </a:solidFill>
                <a:latin typeface="Microsoft JhengHei"/>
              </a:rPr>
              <a:t>Prompt 是你開給 AI 的「醫囑」。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Microsoft JhengHei"/>
              </a:rPr>
              <a:t>衛生福利部台中醫院 感染科 曾婷玉醫師 · AI Workshop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21792" y="438912"/>
            <a:ext cx="1325880" cy="347472"/>
          </a:xfrm>
          <a:prstGeom prst="roundRect">
            <a:avLst/>
          </a:prstGeom>
          <a:solidFill>
            <a:srgbClr val="FBCFE8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Part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9536"/>
            <a:ext cx="7589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111827"/>
                </a:solidFill>
                <a:latin typeface="Microsoft JhengHei"/>
              </a:rPr>
              <a:t>醫療場景先守住紅線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550" b="0">
                <a:solidFill>
                  <a:srgbClr val="4B5563"/>
                </a:solidFill>
                <a:latin typeface="Microsoft JhengHei"/>
              </a:rPr>
              <a:t>能不能用 AI，第一題永遠是資料可不可以貼。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97280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4358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8988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36192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249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28800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7510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21576000">
            <a:off x="749808" y="2240280"/>
            <a:ext cx="5029200" cy="30632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2523744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2000" b="1">
                <a:solidFill>
                  <a:srgbClr val="DC2626"/>
                </a:solidFill>
                <a:latin typeface="Microsoft JhengHei"/>
              </a:rPr>
              <a:t>不要這樣貼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2999232"/>
            <a:ext cx="4251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111827"/>
                </a:solidFill>
                <a:latin typeface="Microsoft JhengHei"/>
              </a:rPr>
              <a:t>王小明，78 歲男性，病歷號 A123456789，住台北市信義區，因肺癌合併肋膜積水就診...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343400"/>
            <a:ext cx="4251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4B5563"/>
                </a:solidFill>
                <a:latin typeface="Microsoft JhengHei"/>
              </a:rPr>
              <a:t>直接識別 + 間接識別組合，風險會疊加。</a:t>
            </a:r>
          </a:p>
        </p:txBody>
      </p:sp>
      <p:sp>
        <p:nvSpPr>
          <p:cNvPr id="39" name="Rounded Rectangle 38"/>
          <p:cNvSpPr/>
          <p:nvPr/>
        </p:nvSpPr>
        <p:spPr>
          <a:xfrm rot="24000">
            <a:off x="6446520" y="2240280"/>
            <a:ext cx="5029200" cy="30632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48272" y="2523744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2000" b="1">
                <a:solidFill>
                  <a:srgbClr val="16A34A"/>
                </a:solidFill>
                <a:latin typeface="Microsoft JhengHei"/>
              </a:rPr>
              <a:t>改成這樣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2999232"/>
            <a:ext cx="4251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111827"/>
                </a:solidFill>
                <a:latin typeface="Microsoft JhengHei"/>
              </a:rPr>
              <a:t>一位高齡男性病患，因肺癌合併肋膜積水於胸腔科就診，同時有糖尿病與慢性病毒性肝炎病史。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4343400"/>
            <a:ext cx="4251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4B5563"/>
                </a:solidFill>
                <a:latin typeface="Microsoft JhengHei"/>
              </a:rPr>
              <a:t>保留臨床意義，移除可回推身分的細節。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Microsoft JhengHei"/>
              </a:rPr>
              <a:t>衛生福利部台中醫院 感染科 曾婷玉醫師 · AI Workshop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21792" y="438912"/>
            <a:ext cx="1325880" cy="347472"/>
          </a:xfrm>
          <a:prstGeom prst="roundRect">
            <a:avLst/>
          </a:prstGeom>
          <a:solidFill>
            <a:srgbClr val="BAE6FD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Part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9536"/>
            <a:ext cx="7589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111827"/>
                </a:solidFill>
                <a:latin typeface="Microsoft JhengHei"/>
              </a:rPr>
              <a:t>一個好 Prompt 的骨架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550" b="0">
                <a:solidFill>
                  <a:srgbClr val="4B5563"/>
                </a:solidFill>
                <a:latin typeface="Microsoft JhengHei"/>
              </a:rPr>
              <a:t>不是問得很聰明，而是交代得很清楚。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97280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4358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8988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36192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249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28800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7510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24000">
            <a:off x="713232" y="2148840"/>
            <a:ext cx="2423160" cy="15727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 rot="21480000">
            <a:off x="877824" y="2331720"/>
            <a:ext cx="960120" cy="347472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" y="2807208"/>
            <a:ext cx="1920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Microsoft JhengHei"/>
              </a:rPr>
              <a:t>角色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" y="3246120"/>
            <a:ext cx="192023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450" b="0">
                <a:solidFill>
                  <a:srgbClr val="4B5563"/>
                </a:solidFill>
                <a:latin typeface="Microsoft JhengHei"/>
              </a:rPr>
              <a:t>你是一位感染科醫師，正在為護理師做教育訓練</a:t>
            </a:r>
          </a:p>
        </p:txBody>
      </p:sp>
      <p:sp>
        <p:nvSpPr>
          <p:cNvPr id="39" name="Rounded Rectangle 38"/>
          <p:cNvSpPr/>
          <p:nvPr/>
        </p:nvSpPr>
        <p:spPr>
          <a:xfrm rot="21570000">
            <a:off x="3593591" y="2148840"/>
            <a:ext cx="2423160" cy="15727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 rot="21480000">
            <a:off x="3758183" y="2331720"/>
            <a:ext cx="960120" cy="347472"/>
          </a:xfrm>
          <a:prstGeom prst="roundRect">
            <a:avLst/>
          </a:prstGeom>
          <a:solidFill>
            <a:srgbClr val="BAE6FD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9624" y="2807208"/>
            <a:ext cx="1920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Microsoft JhengHei"/>
              </a:rPr>
              <a:t>任務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3246120"/>
            <a:ext cx="192023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450" b="0">
                <a:solidFill>
                  <a:srgbClr val="4B5563"/>
                </a:solidFill>
                <a:latin typeface="Microsoft JhengHei"/>
              </a:rPr>
              <a:t>請整理成 5 分鐘可講完的衛教重點</a:t>
            </a:r>
          </a:p>
        </p:txBody>
      </p:sp>
      <p:sp>
        <p:nvSpPr>
          <p:cNvPr id="43" name="Rounded Rectangle 42"/>
          <p:cNvSpPr/>
          <p:nvPr/>
        </p:nvSpPr>
        <p:spPr>
          <a:xfrm rot="24000">
            <a:off x="6473952" y="2148840"/>
            <a:ext cx="2423160" cy="15727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 rot="21480000">
            <a:off x="6638544" y="2331720"/>
            <a:ext cx="96012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4" y="2807208"/>
            <a:ext cx="1920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Microsoft JhengHei"/>
              </a:rPr>
              <a:t>格式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4" y="3246120"/>
            <a:ext cx="192023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450" b="0">
                <a:solidFill>
                  <a:srgbClr val="4B5563"/>
                </a:solidFill>
                <a:latin typeface="Microsoft JhengHei"/>
              </a:rPr>
              <a:t>用表格呈現，欄位含重點、說法、注意事項</a:t>
            </a:r>
          </a:p>
        </p:txBody>
      </p:sp>
      <p:sp>
        <p:nvSpPr>
          <p:cNvPr id="47" name="Rounded Rectangle 46"/>
          <p:cNvSpPr/>
          <p:nvPr/>
        </p:nvSpPr>
        <p:spPr>
          <a:xfrm rot="21570000">
            <a:off x="9354311" y="2148840"/>
            <a:ext cx="2423160" cy="15727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 rot="21480000">
            <a:off x="9518903" y="2331720"/>
            <a:ext cx="960120" cy="347472"/>
          </a:xfrm>
          <a:prstGeom prst="roundRect">
            <a:avLst/>
          </a:prstGeom>
          <a:solidFill>
            <a:srgbClr val="FBCFE8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10343" y="2807208"/>
            <a:ext cx="1920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Microsoft JhengHei"/>
              </a:rPr>
              <a:t>限制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10343" y="3246120"/>
            <a:ext cx="192023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450" b="0">
                <a:solidFill>
                  <a:srgbClr val="4B5563"/>
                </a:solidFill>
                <a:latin typeface="Microsoft JhengHei"/>
              </a:rPr>
              <a:t>不要使用病人個資；避免診斷建議與藥物劑量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8992" y="4297680"/>
            <a:ext cx="10012680" cy="10789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78992" y="4297680"/>
            <a:ext cx="10012680" cy="91440"/>
          </a:xfrm>
          <a:prstGeom prst="rect">
            <a:avLst/>
          </a:prstGeom>
          <a:solidFill>
            <a:srgbClr val="49B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4553712"/>
            <a:ext cx="93726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111827"/>
                </a:solidFill>
                <a:latin typeface="Microsoft JhengHei"/>
              </a:rPr>
              <a:t>請幫我把以下出院衛教改寫成國中生能懂的版本，分成「為什麼重要、怎麼做、什麼時候回診」三段；不要新增未提供的藥物劑量。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Microsoft JhengHei"/>
              </a:rPr>
              <a:t>衛生福利部台中醫院 感染科 曾婷玉醫師 · AI Workshop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21792" y="438912"/>
            <a:ext cx="132588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omic Sans MS"/>
              </a:rPr>
              <a:t>Exercise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9536"/>
            <a:ext cx="7589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111827"/>
                </a:solidFill>
                <a:latin typeface="Microsoft JhengHei"/>
              </a:rPr>
              <a:t>現在就做：10 分鐘實作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550" b="0">
                <a:solidFill>
                  <a:srgbClr val="4B5563"/>
                </a:solidFill>
                <a:latin typeface="Microsoft JhengHei"/>
              </a:rPr>
              <a:t>把一段真實工作改成可安全貼給 AI 的任務。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97280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4358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8988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36192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249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28800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7510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21582000">
            <a:off x="731520" y="2194560"/>
            <a:ext cx="6400800" cy="3154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248716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2000" b="1">
                <a:solidFill>
                  <a:srgbClr val="111827"/>
                </a:solidFill>
                <a:latin typeface="Microsoft JhengHei"/>
              </a:rPr>
              <a:t>任務流程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2944368"/>
            <a:ext cx="5669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00">
                <a:solidFill>
                  <a:srgbClr val="111827"/>
                </a:solidFill>
                <a:latin typeface="Microsoft JhengHei"/>
              </a:rPr>
              <a:t>1. 選一段不含個資的衛教或行政文字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00">
                <a:solidFill>
                  <a:srgbClr val="111827"/>
                </a:solidFill>
                <a:latin typeface="Microsoft JhengHei"/>
              </a:rPr>
              <a:t>2. 寫出角色、任務、格式、限制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00">
                <a:solidFill>
                  <a:srgbClr val="111827"/>
                </a:solidFill>
                <a:latin typeface="Microsoft JhengHei"/>
              </a:rPr>
              <a:t>3. 產出後標出 2 個需要人工核對的地方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00">
                <a:solidFill>
                  <a:srgbClr val="111827"/>
                </a:solidFill>
                <a:latin typeface="Microsoft JhengHei"/>
              </a:rPr>
              <a:t>4. 分享：哪一句 Prompt 改完最有差？</a:t>
            </a:r>
          </a:p>
        </p:txBody>
      </p:sp>
      <p:sp>
        <p:nvSpPr>
          <p:cNvPr id="38" name="Rounded Rectangle 37"/>
          <p:cNvSpPr/>
          <p:nvPr/>
        </p:nvSpPr>
        <p:spPr>
          <a:xfrm rot="42000">
            <a:off x="7818120" y="2121408"/>
            <a:ext cx="306324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qr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2432304"/>
            <a:ext cx="2468880" cy="24688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138160" y="53218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0">
                <a:solidFill>
                  <a:srgbClr val="4B5563"/>
                </a:solidFill>
                <a:latin typeface="Comic Sans MS"/>
              </a:rPr>
              <a:t>講義與工具頁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Microsoft JhengHei"/>
              </a:rPr>
              <a:t>衛生福利部台中醫院 感染科 曾婷玉醫師 · AI Workshop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