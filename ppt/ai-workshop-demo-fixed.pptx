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2918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98755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197510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30428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2633471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2962655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362102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427939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26694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9612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592531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625449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 rot="21420000">
            <a:off x="685800" y="594360"/>
            <a:ext cx="1463040" cy="347472"/>
          </a:xfrm>
          <a:prstGeom prst="roundRect">
            <a:avLst/>
          </a:prstGeom>
          <a:solidFill>
            <a:srgbClr val="FDE68A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aveat"/>
              </a:rPr>
              <a:t>Pilot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261872"/>
            <a:ext cx="580644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3500" b="1">
                <a:solidFill>
                  <a:srgbClr val="111827"/>
                </a:solidFill>
                <a:latin typeface="LXGW WenKai TC"/>
              </a:rPr>
              <a:t>AI 入門與創作工作坊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2048256"/>
            <a:ext cx="521208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800" b="0">
                <a:solidFill>
                  <a:srgbClr val="4B5563"/>
                </a:solidFill>
                <a:latin typeface="LXGW WenKai TC"/>
              </a:rPr>
              <a:t>給醫療人員的第一堂 AI 課</a:t>
            </a:r>
          </a:p>
        </p:txBody>
      </p:sp>
      <p:sp>
        <p:nvSpPr>
          <p:cNvPr id="25" name="Rounded Rectangle 24"/>
          <p:cNvSpPr/>
          <p:nvPr/>
        </p:nvSpPr>
        <p:spPr>
          <a:xfrm rot="21570000">
            <a:off x="713232" y="2816352"/>
            <a:ext cx="5074920" cy="1600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7552" y="3054096"/>
            <a:ext cx="429768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700" b="1">
                <a:solidFill>
                  <a:srgbClr val="111827"/>
                </a:solidFill>
                <a:latin typeface="LXGW WenKai TC"/>
              </a:rPr>
              <a:t>今天先建立三件事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3456432"/>
            <a:ext cx="4315968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20">
                <a:solidFill>
                  <a:srgbClr val="111827"/>
                </a:solidFill>
                <a:latin typeface="LXGW WenKai TC"/>
              </a:rPr>
              <a:t>知道 AI 能做什麼，也知道不能信什麼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20">
                <a:solidFill>
                  <a:srgbClr val="111827"/>
                </a:solidFill>
                <a:latin typeface="LXGW WenKai TC"/>
              </a:rPr>
              <a:t>會寫出有邊界的 Prompt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420">
                <a:solidFill>
                  <a:srgbClr val="111827"/>
                </a:solidFill>
                <a:latin typeface="LXGW WenKai TC"/>
              </a:rPr>
              <a:t>先守住病人隱私與專業責任</a:t>
            </a:r>
          </a:p>
        </p:txBody>
      </p:sp>
      <p:sp>
        <p:nvSpPr>
          <p:cNvPr id="28" name="Rounded Rectangle 27"/>
          <p:cNvSpPr/>
          <p:nvPr/>
        </p:nvSpPr>
        <p:spPr>
          <a:xfrm rot="72000">
            <a:off x="6995160" y="749808"/>
            <a:ext cx="4251960" cy="4251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og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8" y="950976"/>
            <a:ext cx="3840480" cy="38404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269480" y="5193792"/>
            <a:ext cx="393192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350" b="0">
                <a:solidFill>
                  <a:srgbClr val="4B5563"/>
                </a:solidFill>
                <a:latin typeface="Caveat"/>
              </a:rPr>
              <a:t>Doodle style from GitHub 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850" b="0">
                <a:solidFill>
                  <a:srgbClr val="4B5563"/>
                </a:solidFill>
                <a:latin typeface="LXGW WenKai TC"/>
              </a:rPr>
              <a:t>衛生福利部台中醫院 感染科 曾婷玉醫師 · AI Workshop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sz="950" b="0">
                <a:solidFill>
                  <a:srgbClr val="4B5563"/>
                </a:solidFill>
                <a:latin typeface="JetBrains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2918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98755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197510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30428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2633471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2962655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362102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427939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26694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9612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592531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625449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 rot="21420000">
            <a:off x="621792" y="438912"/>
            <a:ext cx="1325880" cy="347472"/>
          </a:xfrm>
          <a:prstGeom prst="roundRect">
            <a:avLst/>
          </a:prstGeom>
          <a:solidFill>
            <a:srgbClr val="FDE68A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aveat"/>
              </a:rPr>
              <a:t>Workshop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859536"/>
            <a:ext cx="7589520" cy="685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3200" b="1">
                <a:solidFill>
                  <a:srgbClr val="111827"/>
                </a:solidFill>
                <a:latin typeface="LXGW WenKai TC"/>
              </a:rPr>
              <a:t>課程地圖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1527048"/>
            <a:ext cx="786384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550" b="0">
                <a:solidFill>
                  <a:srgbClr val="4B5563"/>
                </a:solidFill>
                <a:latin typeface="LXGW WenKai TC"/>
              </a:rPr>
              <a:t>從安全使用開始，再進到文字、圖像、影片與 Agent。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58368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4672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50976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97280" y="1901952"/>
            <a:ext cx="128015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243584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389888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536192" y="1901952"/>
            <a:ext cx="128015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682496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828800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75104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 rot="21570000">
            <a:off x="731520" y="2194560"/>
            <a:ext cx="489204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 rot="21480000">
            <a:off x="896112" y="2377440"/>
            <a:ext cx="960120" cy="347472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aveat"/>
              </a:rPr>
              <a:t>Part 1-3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" y="2852928"/>
            <a:ext cx="438912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111827"/>
                </a:solidFill>
                <a:latin typeface="LXGW WenKai TC"/>
              </a:rPr>
              <a:t>基礎必修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7552" y="3236976"/>
            <a:ext cx="4389120" cy="530351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95000"/>
              </a:lnSpc>
            </a:pPr>
            <a:r>
              <a:rPr sz="1320" b="0">
                <a:solidFill>
                  <a:srgbClr val="4B5563"/>
                </a:solidFill>
                <a:latin typeface="LXGW WenKai TC"/>
              </a:rPr>
              <a:t>AI 基礎觀念</a:t>
            </a:r>
            <a:br/>
            <a:r>
              <a:t>文字應用</a:t>
            </a:r>
            <a:br/>
            <a:r>
              <a:t>安全與隱私</a:t>
            </a:r>
          </a:p>
        </p:txBody>
      </p:sp>
      <p:sp>
        <p:nvSpPr>
          <p:cNvPr id="39" name="Rounded Rectangle 38"/>
          <p:cNvSpPr/>
          <p:nvPr/>
        </p:nvSpPr>
        <p:spPr>
          <a:xfrm rot="24000">
            <a:off x="6217920" y="2194560"/>
            <a:ext cx="489204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 rot="21480000">
            <a:off x="6382512" y="2377440"/>
            <a:ext cx="960120" cy="347472"/>
          </a:xfrm>
          <a:prstGeom prst="roundRect">
            <a:avLst/>
          </a:prstGeom>
          <a:solidFill>
            <a:srgbClr val="BAE6FD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aveat"/>
              </a:rPr>
              <a:t>Part 4-6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2852928"/>
            <a:ext cx="438912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111827"/>
                </a:solidFill>
                <a:latin typeface="LXGW WenKai TC"/>
              </a:rPr>
              <a:t>創作應用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3952" y="3236976"/>
            <a:ext cx="4389120" cy="530351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95000"/>
              </a:lnSpc>
            </a:pPr>
            <a:r>
              <a:rPr sz="1320" b="0">
                <a:solidFill>
                  <a:srgbClr val="4B5563"/>
                </a:solidFill>
                <a:latin typeface="LXGW WenKai TC"/>
              </a:rPr>
              <a:t>圖像生成</a:t>
            </a:r>
            <a:br/>
            <a:r>
              <a:t>影片製作</a:t>
            </a:r>
            <a:br/>
            <a:r>
              <a:t>Google Flow</a:t>
            </a:r>
          </a:p>
        </p:txBody>
      </p:sp>
      <p:sp>
        <p:nvSpPr>
          <p:cNvPr id="43" name="Rounded Rectangle 42"/>
          <p:cNvSpPr/>
          <p:nvPr/>
        </p:nvSpPr>
        <p:spPr>
          <a:xfrm rot="21570000">
            <a:off x="731520" y="4224528"/>
            <a:ext cx="489204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 rot="21480000">
            <a:off x="896112" y="4407408"/>
            <a:ext cx="960120" cy="347472"/>
          </a:xfrm>
          <a:prstGeom prst="roundRect">
            <a:avLst/>
          </a:prstGeom>
          <a:solidFill>
            <a:srgbClr val="FBCFE8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aveat"/>
              </a:rPr>
              <a:t>Part 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" y="4882896"/>
            <a:ext cx="438912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111827"/>
                </a:solidFill>
                <a:latin typeface="LXGW WenKai TC"/>
              </a:rPr>
              <a:t>進階實戰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" y="5266944"/>
            <a:ext cx="4389120" cy="530351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95000"/>
              </a:lnSpc>
            </a:pPr>
            <a:r>
              <a:rPr sz="1320" b="0">
                <a:solidFill>
                  <a:srgbClr val="4B5563"/>
                </a:solidFill>
                <a:latin typeface="LXGW WenKai TC"/>
              </a:rPr>
              <a:t>AI Agent</a:t>
            </a:r>
            <a:br/>
            <a:r>
              <a:t>自動化任務</a:t>
            </a:r>
            <a:br/>
            <a:r>
              <a:t>工具協作</a:t>
            </a:r>
          </a:p>
        </p:txBody>
      </p:sp>
      <p:sp>
        <p:nvSpPr>
          <p:cNvPr id="47" name="Rounded Rectangle 46"/>
          <p:cNvSpPr/>
          <p:nvPr/>
        </p:nvSpPr>
        <p:spPr>
          <a:xfrm rot="24000">
            <a:off x="6217920" y="4224528"/>
            <a:ext cx="4892040" cy="1737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 rot="21480000">
            <a:off x="6382512" y="4407408"/>
            <a:ext cx="960120" cy="347472"/>
          </a:xfrm>
          <a:prstGeom prst="roundRect">
            <a:avLst/>
          </a:prstGeom>
          <a:solidFill>
            <a:srgbClr val="DDD6FE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aveat"/>
              </a:rPr>
              <a:t>Extras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3952" y="4882896"/>
            <a:ext cx="438912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111827"/>
                </a:solidFill>
                <a:latin typeface="LXGW WenKai TC"/>
              </a:rPr>
              <a:t>番外工具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3952" y="5266944"/>
            <a:ext cx="4389120" cy="530351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95000"/>
              </a:lnSpc>
            </a:pPr>
            <a:r>
              <a:rPr sz="1320" b="0">
                <a:solidFill>
                  <a:srgbClr val="4B5563"/>
                </a:solidFill>
                <a:latin typeface="LXGW WenKai TC"/>
              </a:rPr>
              <a:t>NotebookLM</a:t>
            </a:r>
            <a:br/>
            <a:r>
              <a:t>語音轉文字</a:t>
            </a:r>
            <a:br/>
            <a:r>
              <a:t>Canva / CapCut / GitHub Pages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850" b="0">
                <a:solidFill>
                  <a:srgbClr val="4B5563"/>
                </a:solidFill>
                <a:latin typeface="LXGW WenKai TC"/>
              </a:rPr>
              <a:t>衛生福利部台中醫院 感染科 曾婷玉醫師 · AI Workshop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sz="950" b="0">
                <a:solidFill>
                  <a:srgbClr val="4B5563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2918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98755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197510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30428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2633471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2962655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362102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427939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26694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9612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592531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625449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 rot="21420000">
            <a:off x="621792" y="438912"/>
            <a:ext cx="1325880" cy="347472"/>
          </a:xfrm>
          <a:prstGeom prst="roundRect">
            <a:avLst/>
          </a:prstGeom>
          <a:solidFill>
            <a:srgbClr val="FDE68A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aveat"/>
              </a:rPr>
              <a:t>Part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859536"/>
            <a:ext cx="7589520" cy="685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3200" b="1">
                <a:solidFill>
                  <a:srgbClr val="111827"/>
                </a:solidFill>
                <a:latin typeface="LXGW WenKai TC"/>
              </a:rPr>
              <a:t>AI 到底在幹嘛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1527048"/>
            <a:ext cx="786384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550" b="0">
                <a:solidFill>
                  <a:srgbClr val="4B5563"/>
                </a:solidFill>
                <a:latin typeface="LXGW WenKai TC"/>
              </a:rPr>
              <a:t>用醫療人員熟悉的方式理解 LLM。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58368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4672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50976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97280" y="1901952"/>
            <a:ext cx="128015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243584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389888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536192" y="1901952"/>
            <a:ext cx="128015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682496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828800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75104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 rot="21582000">
            <a:off x="777240" y="2331720"/>
            <a:ext cx="5074920" cy="2331720"/>
          </a:xfrm>
          <a:prstGeom prst="roundRect">
            <a:avLst/>
          </a:prstGeom>
          <a:solidFill>
            <a:srgbClr val="BBF7D0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" y="2587752"/>
            <a:ext cx="4206240" cy="292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700" b="1">
                <a:solidFill>
                  <a:srgbClr val="16A34A"/>
                </a:solidFill>
                <a:latin typeface="LXGW WenKai TC"/>
              </a:rPr>
              <a:t>醫學類比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" y="2999232"/>
            <a:ext cx="4343400" cy="10058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800" b="0">
                <a:solidFill>
                  <a:srgbClr val="111827"/>
                </a:solidFill>
                <a:latin typeface="LXGW WenKai TC"/>
              </a:rPr>
              <a:t>像一個讀完所有教科書的住院醫師：知識量驚人，但沒有臨床經驗，偶爾會很有自信地說錯話。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2377440"/>
            <a:ext cx="4663440" cy="5029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263D5B"/>
                </a:solidFill>
                <a:latin typeface="LXGW WenKai TC"/>
              </a:rPr>
              <a:t>LLM = 預測下一個字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090672"/>
            <a:ext cx="443484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750">
                <a:solidFill>
                  <a:srgbClr val="111827"/>
                </a:solidFill>
                <a:latin typeface="LXGW WenKai TC"/>
              </a:rPr>
              <a:t>不是資料庫查詢，而是根據上下文生成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750">
                <a:solidFill>
                  <a:srgbClr val="111827"/>
                </a:solidFill>
                <a:latin typeface="LXGW WenKai TC"/>
              </a:rPr>
              <a:t>回答流暢不等於已經查證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750">
                <a:solidFill>
                  <a:srgbClr val="111827"/>
                </a:solidFill>
                <a:latin typeface="LXGW WenKai TC"/>
              </a:rPr>
              <a:t>越明確的任務，越容易得到可用結果</a:t>
            </a:r>
          </a:p>
        </p:txBody>
      </p:sp>
      <p:sp>
        <p:nvSpPr>
          <p:cNvPr id="40" name="Rounded Rectangle 39"/>
          <p:cNvSpPr/>
          <p:nvPr/>
        </p:nvSpPr>
        <p:spPr>
          <a:xfrm rot="21420000">
            <a:off x="6601968" y="4498848"/>
            <a:ext cx="1143000" cy="347472"/>
          </a:xfrm>
          <a:prstGeom prst="roundRect">
            <a:avLst/>
          </a:prstGeom>
          <a:solidFill>
            <a:srgbClr val="FDE68A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aveat"/>
              </a:rPr>
              <a:t>keyword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82127" y="4526280"/>
            <a:ext cx="283464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700" b="1">
                <a:solidFill>
                  <a:srgbClr val="111827"/>
                </a:solidFill>
                <a:latin typeface="LXGW WenKai TC"/>
              </a:rPr>
              <a:t>Prompt 是你開給 AI 的「醫囑」。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850" b="0">
                <a:solidFill>
                  <a:srgbClr val="4B5563"/>
                </a:solidFill>
                <a:latin typeface="LXGW WenKai TC"/>
              </a:rPr>
              <a:t>衛生福利部台中醫院 感染科 曾婷玉醫師 · AI Workshop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sz="950" b="0">
                <a:solidFill>
                  <a:srgbClr val="4B5563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2918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98755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197510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30428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2633471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2962655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362102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427939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26694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9612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592531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625449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 rot="21420000">
            <a:off x="621792" y="438912"/>
            <a:ext cx="1325880" cy="347472"/>
          </a:xfrm>
          <a:prstGeom prst="roundRect">
            <a:avLst/>
          </a:prstGeom>
          <a:solidFill>
            <a:srgbClr val="FBCFE8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aveat"/>
              </a:rPr>
              <a:t>Part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859536"/>
            <a:ext cx="7589520" cy="685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3200" b="1">
                <a:solidFill>
                  <a:srgbClr val="111827"/>
                </a:solidFill>
                <a:latin typeface="LXGW WenKai TC"/>
              </a:rPr>
              <a:t>醫療場景先守住紅線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1527048"/>
            <a:ext cx="786384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550" b="0">
                <a:solidFill>
                  <a:srgbClr val="4B5563"/>
                </a:solidFill>
                <a:latin typeface="LXGW WenKai TC"/>
              </a:rPr>
              <a:t>能不能用 AI，第一題永遠是資料可不可以貼。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58368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4672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50976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97280" y="1901952"/>
            <a:ext cx="128015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243584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389888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536192" y="1901952"/>
            <a:ext cx="128015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682496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828800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75104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 rot="21576000">
            <a:off x="749808" y="2240280"/>
            <a:ext cx="5029200" cy="3063240"/>
          </a:xfrm>
          <a:prstGeom prst="roundRect">
            <a:avLst/>
          </a:prstGeom>
          <a:solidFill>
            <a:srgbClr val="FFEBEE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" y="2523744"/>
            <a:ext cx="41148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2000" b="1">
                <a:solidFill>
                  <a:srgbClr val="DC2626"/>
                </a:solidFill>
                <a:latin typeface="LXGW WenKai TC"/>
              </a:rPr>
              <a:t>不要這樣貼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2999232"/>
            <a:ext cx="4251960" cy="1051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700" b="0">
                <a:solidFill>
                  <a:srgbClr val="111827"/>
                </a:solidFill>
                <a:latin typeface="LXGW WenKai TC"/>
              </a:rPr>
              <a:t>王小明，78 歲男性，病歷號 A123456789，住台北市信義區，因肺癌合併肋膜積水就診...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343400"/>
            <a:ext cx="425196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4B5563"/>
                </a:solidFill>
                <a:latin typeface="LXGW WenKai TC"/>
              </a:rPr>
              <a:t>直接識別 + 間接識別組合，風險會疊加。</a:t>
            </a:r>
          </a:p>
        </p:txBody>
      </p:sp>
      <p:sp>
        <p:nvSpPr>
          <p:cNvPr id="39" name="Rounded Rectangle 38"/>
          <p:cNvSpPr/>
          <p:nvPr/>
        </p:nvSpPr>
        <p:spPr>
          <a:xfrm rot="24000">
            <a:off x="6446520" y="2240280"/>
            <a:ext cx="5029200" cy="306324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48272" y="2523744"/>
            <a:ext cx="41148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2000" b="1">
                <a:solidFill>
                  <a:srgbClr val="16A34A"/>
                </a:solidFill>
                <a:latin typeface="LXGW WenKai TC"/>
              </a:rPr>
              <a:t>改成這樣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48272" y="2999232"/>
            <a:ext cx="4251960" cy="10515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700" b="0">
                <a:solidFill>
                  <a:srgbClr val="111827"/>
                </a:solidFill>
                <a:latin typeface="LXGW WenKai TC"/>
              </a:rPr>
              <a:t>一位高齡男性病患，因肺癌合併肋膜積水於胸腔科就診，同時有糖尿病與慢性病毒性肝炎病史。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48272" y="4343400"/>
            <a:ext cx="4251960" cy="34747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4B5563"/>
                </a:solidFill>
                <a:latin typeface="LXGW WenKai TC"/>
              </a:rPr>
              <a:t>保留臨床意義，移除可回推身分的細節。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850" b="0">
                <a:solidFill>
                  <a:srgbClr val="4B5563"/>
                </a:solidFill>
                <a:latin typeface="LXGW WenKai TC"/>
              </a:rPr>
              <a:t>衛生福利部台中醫院 感染科 曾婷玉醫師 · AI Workshop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sz="950" b="0">
                <a:solidFill>
                  <a:srgbClr val="4B5563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2918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98755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197510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30428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2633471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2962655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362102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427939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26694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9612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592531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625449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 rot="21420000">
            <a:off x="621792" y="438912"/>
            <a:ext cx="1325880" cy="347472"/>
          </a:xfrm>
          <a:prstGeom prst="roundRect">
            <a:avLst/>
          </a:prstGeom>
          <a:solidFill>
            <a:srgbClr val="BAE6FD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aveat"/>
              </a:rPr>
              <a:t>Part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859536"/>
            <a:ext cx="7589520" cy="685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3200" b="1">
                <a:solidFill>
                  <a:srgbClr val="111827"/>
                </a:solidFill>
                <a:latin typeface="LXGW WenKai TC"/>
              </a:rPr>
              <a:t>一個好 Prompt 的骨架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1527048"/>
            <a:ext cx="786384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550" b="0">
                <a:solidFill>
                  <a:srgbClr val="4B5563"/>
                </a:solidFill>
                <a:latin typeface="LXGW WenKai TC"/>
              </a:rPr>
              <a:t>不是問得很聰明，而是交代得很清楚。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58368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4672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50976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97280" y="1901952"/>
            <a:ext cx="128015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243584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389888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536192" y="1901952"/>
            <a:ext cx="128015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682496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828800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75104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 rot="24000">
            <a:off x="713232" y="2148840"/>
            <a:ext cx="2423160" cy="15727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 rot="21480000">
            <a:off x="877824" y="2331720"/>
            <a:ext cx="960120" cy="347472"/>
          </a:xfrm>
          <a:prstGeom prst="roundRect">
            <a:avLst/>
          </a:prstGeom>
          <a:solidFill>
            <a:srgbClr val="BBF7D0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aveat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" y="2807208"/>
            <a:ext cx="192023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111827"/>
                </a:solidFill>
                <a:latin typeface="LXGW WenKai TC"/>
              </a:rPr>
              <a:t>角色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" y="3191256"/>
            <a:ext cx="1920239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95000"/>
              </a:lnSpc>
            </a:pPr>
            <a:r>
              <a:rPr sz="1450" b="0">
                <a:solidFill>
                  <a:srgbClr val="4B5563"/>
                </a:solidFill>
                <a:latin typeface="LXGW WenKai TC"/>
              </a:rPr>
              <a:t>你是一位感染科醫師，正在為護理師做教育訓練</a:t>
            </a:r>
          </a:p>
        </p:txBody>
      </p:sp>
      <p:sp>
        <p:nvSpPr>
          <p:cNvPr id="39" name="Rounded Rectangle 38"/>
          <p:cNvSpPr/>
          <p:nvPr/>
        </p:nvSpPr>
        <p:spPr>
          <a:xfrm rot="21570000">
            <a:off x="3593591" y="2148840"/>
            <a:ext cx="2423160" cy="15727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 rot="21480000">
            <a:off x="3758183" y="2331720"/>
            <a:ext cx="960120" cy="347472"/>
          </a:xfrm>
          <a:prstGeom prst="roundRect">
            <a:avLst/>
          </a:prstGeom>
          <a:solidFill>
            <a:srgbClr val="BAE6FD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aveat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9624" y="2807208"/>
            <a:ext cx="192023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111827"/>
                </a:solidFill>
                <a:latin typeface="LXGW WenKai TC"/>
              </a:rPr>
              <a:t>任務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9624" y="3191256"/>
            <a:ext cx="1920239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95000"/>
              </a:lnSpc>
            </a:pPr>
            <a:r>
              <a:rPr sz="1450" b="0">
                <a:solidFill>
                  <a:srgbClr val="4B5563"/>
                </a:solidFill>
                <a:latin typeface="LXGW WenKai TC"/>
              </a:rPr>
              <a:t>請整理成 5 分鐘可講完的衛教重點</a:t>
            </a:r>
          </a:p>
        </p:txBody>
      </p:sp>
      <p:sp>
        <p:nvSpPr>
          <p:cNvPr id="43" name="Rounded Rectangle 42"/>
          <p:cNvSpPr/>
          <p:nvPr/>
        </p:nvSpPr>
        <p:spPr>
          <a:xfrm rot="24000">
            <a:off x="6473952" y="2148840"/>
            <a:ext cx="2423160" cy="15727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 rot="21480000">
            <a:off x="6638544" y="2331720"/>
            <a:ext cx="960120" cy="347472"/>
          </a:xfrm>
          <a:prstGeom prst="roundRect">
            <a:avLst/>
          </a:prstGeom>
          <a:solidFill>
            <a:srgbClr val="FDE68A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aveat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9984" y="2807208"/>
            <a:ext cx="192023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111827"/>
                </a:solidFill>
                <a:latin typeface="LXGW WenKai TC"/>
              </a:rPr>
              <a:t>格式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9984" y="3191256"/>
            <a:ext cx="1920239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95000"/>
              </a:lnSpc>
            </a:pPr>
            <a:r>
              <a:rPr sz="1450" b="0">
                <a:solidFill>
                  <a:srgbClr val="4B5563"/>
                </a:solidFill>
                <a:latin typeface="LXGW WenKai TC"/>
              </a:rPr>
              <a:t>用表格呈現，欄位含重點、說法、注意事項</a:t>
            </a:r>
          </a:p>
        </p:txBody>
      </p:sp>
      <p:sp>
        <p:nvSpPr>
          <p:cNvPr id="47" name="Rounded Rectangle 46"/>
          <p:cNvSpPr/>
          <p:nvPr/>
        </p:nvSpPr>
        <p:spPr>
          <a:xfrm rot="21570000">
            <a:off x="9354311" y="2148840"/>
            <a:ext cx="2423160" cy="15727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 rot="21480000">
            <a:off x="9518903" y="2331720"/>
            <a:ext cx="960120" cy="347472"/>
          </a:xfrm>
          <a:prstGeom prst="roundRect">
            <a:avLst/>
          </a:prstGeom>
          <a:solidFill>
            <a:srgbClr val="FBCFE8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aveat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10343" y="2807208"/>
            <a:ext cx="1920239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111827"/>
                </a:solidFill>
                <a:latin typeface="LXGW WenKai TC"/>
              </a:rPr>
              <a:t>限制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10343" y="3191256"/>
            <a:ext cx="1920239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95000"/>
              </a:lnSpc>
            </a:pPr>
            <a:r>
              <a:rPr sz="1450" b="0">
                <a:solidFill>
                  <a:srgbClr val="4B5563"/>
                </a:solidFill>
                <a:latin typeface="LXGW WenKai TC"/>
              </a:rPr>
              <a:t>不要使用病人個資；避免診斷建議與藥物劑量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78992" y="4297680"/>
            <a:ext cx="10012680" cy="107899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78992" y="4297680"/>
            <a:ext cx="10012680" cy="91440"/>
          </a:xfrm>
          <a:prstGeom prst="rect">
            <a:avLst/>
          </a:prstGeom>
          <a:solidFill>
            <a:srgbClr val="49B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0" y="4553712"/>
            <a:ext cx="9372600" cy="49377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700" b="0">
                <a:solidFill>
                  <a:srgbClr val="111827"/>
                </a:solidFill>
                <a:latin typeface="LXGW WenKai TC"/>
              </a:rPr>
              <a:t>請幫我把以下出院衛教改寫成國中生能懂的版本，分成「為什麼重要、怎麼做、什麼時候回診」三段；不要新增未提供的藥物劑量。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850" b="0">
                <a:solidFill>
                  <a:srgbClr val="4B5563"/>
                </a:solidFill>
                <a:latin typeface="LXGW WenKai TC"/>
              </a:rPr>
              <a:t>衛生福利部台中醫院 感染科 曾婷玉醫師 · AI Workshop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sz="950" b="0">
                <a:solidFill>
                  <a:srgbClr val="4B5563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CF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32918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65836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98755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31673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164591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197510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230428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2633471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2962655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3291839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3621023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3950207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427939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60857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93776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5266944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5596128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5925312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6254496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6583680"/>
            <a:ext cx="12191695" cy="0"/>
          </a:xfrm>
          <a:prstGeom prst="line">
            <a:avLst/>
          </a:prstGeom>
          <a:ln w="6350">
            <a:solidFill>
              <a:srgbClr val="E8E4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 rot="21420000">
            <a:off x="621792" y="438912"/>
            <a:ext cx="1325880" cy="347472"/>
          </a:xfrm>
          <a:prstGeom prst="roundRect">
            <a:avLst/>
          </a:prstGeom>
          <a:solidFill>
            <a:srgbClr val="FDE68A"/>
          </a:solidFill>
          <a:ln w="152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111827"/>
                </a:solidFill>
                <a:latin typeface="Caveat"/>
              </a:rPr>
              <a:t>Exercise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859536"/>
            <a:ext cx="7589520" cy="6858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3200" b="1">
                <a:solidFill>
                  <a:srgbClr val="111827"/>
                </a:solidFill>
                <a:latin typeface="LXGW WenKai TC"/>
              </a:rPr>
              <a:t>現在就做：10 分鐘實作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1527048"/>
            <a:ext cx="786384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1550" b="0">
                <a:solidFill>
                  <a:srgbClr val="4B5563"/>
                </a:solidFill>
                <a:latin typeface="LXGW WenKai TC"/>
              </a:rPr>
              <a:t>把一段真實工作改成可安全貼給 AI 的任務。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58368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04672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50976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97280" y="1901952"/>
            <a:ext cx="128015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243584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389888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536192" y="1901952"/>
            <a:ext cx="128015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682496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828800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75104" y="1901952"/>
            <a:ext cx="128016" cy="54864"/>
          </a:xfrm>
          <a:prstGeom prst="line">
            <a:avLst/>
          </a:prstGeom>
          <a:ln w="15240">
            <a:solidFill>
              <a:srgbClr val="1118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 rot="21582000">
            <a:off x="731520" y="2194560"/>
            <a:ext cx="6400800" cy="3154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2487168"/>
            <a:ext cx="530352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2000" b="1">
                <a:solidFill>
                  <a:srgbClr val="111827"/>
                </a:solidFill>
                <a:latin typeface="LXGW WenKai TC"/>
              </a:rPr>
              <a:t>任務流程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2944368"/>
            <a:ext cx="5669280" cy="1508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700">
                <a:solidFill>
                  <a:srgbClr val="111827"/>
                </a:solidFill>
                <a:latin typeface="LXGW WenKai TC"/>
              </a:rPr>
              <a:t>1. 選一段不含個資的衛教或行政文字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700">
                <a:solidFill>
                  <a:srgbClr val="111827"/>
                </a:solidFill>
                <a:latin typeface="LXGW WenKai TC"/>
              </a:rPr>
              <a:t>2. 寫出角色、任務、格式、限制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700">
                <a:solidFill>
                  <a:srgbClr val="111827"/>
                </a:solidFill>
                <a:latin typeface="LXGW WenKai TC"/>
              </a:rPr>
              <a:t>3. 產出後標出 2 個需要人工核對的地方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700">
                <a:solidFill>
                  <a:srgbClr val="111827"/>
                </a:solidFill>
                <a:latin typeface="LXGW WenKai TC"/>
              </a:rPr>
              <a:t>4. 分享：哪一句 Prompt 改完最有差？</a:t>
            </a:r>
          </a:p>
        </p:txBody>
      </p:sp>
      <p:sp>
        <p:nvSpPr>
          <p:cNvPr id="38" name="Rounded Rectangle 37"/>
          <p:cNvSpPr/>
          <p:nvPr/>
        </p:nvSpPr>
        <p:spPr>
          <a:xfrm rot="42000">
            <a:off x="7818120" y="2121408"/>
            <a:ext cx="3063240" cy="3063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qr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2" y="2432304"/>
            <a:ext cx="2468880" cy="24688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138160" y="5321808"/>
            <a:ext cx="2377440" cy="2743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450" b="0">
                <a:solidFill>
                  <a:srgbClr val="4B5563"/>
                </a:solidFill>
                <a:latin typeface="Caveat"/>
              </a:rPr>
              <a:t>講義與工具頁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7498079" cy="228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10000"/>
              </a:lnSpc>
            </a:pPr>
            <a:r>
              <a:rPr sz="850" b="0">
                <a:solidFill>
                  <a:srgbClr val="4B5563"/>
                </a:solidFill>
                <a:latin typeface="LXGW WenKai TC"/>
              </a:rPr>
              <a:t>衛生福利部台中醫院 感染科 曾婷玉醫師 · AI Workshop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92840" y="6446520"/>
            <a:ext cx="411480" cy="256032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r">
              <a:lnSpc>
                <a:spcPct val="110000"/>
              </a:lnSpc>
            </a:pPr>
            <a:r>
              <a:rPr sz="950" b="0">
                <a:solidFill>
                  <a:srgbClr val="4B5563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